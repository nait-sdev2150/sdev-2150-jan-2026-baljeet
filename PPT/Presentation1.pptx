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58" r:id="rId4"/>
    <p:sldId id="282" r:id="rId5"/>
    <p:sldId id="306" r:id="rId6"/>
    <p:sldId id="322" r:id="rId7"/>
    <p:sldId id="371" r:id="rId8"/>
    <p:sldId id="307" r:id="rId9"/>
    <p:sldId id="372" r:id="rId10"/>
    <p:sldId id="303" r:id="rId11"/>
    <p:sldId id="374" r:id="rId12"/>
    <p:sldId id="343" r:id="rId13"/>
    <p:sldId id="375" r:id="rId14"/>
    <p:sldId id="376" r:id="rId15"/>
    <p:sldId id="377" r:id="rId16"/>
    <p:sldId id="334" r:id="rId17"/>
    <p:sldId id="378" r:id="rId18"/>
    <p:sldId id="337" r:id="rId19"/>
    <p:sldId id="384" r:id="rId20"/>
    <p:sldId id="354" r:id="rId21"/>
    <p:sldId id="360" r:id="rId22"/>
    <p:sldId id="385" r:id="rId23"/>
    <p:sldId id="339" r:id="rId24"/>
    <p:sldId id="362" r:id="rId25"/>
    <p:sldId id="340" r:id="rId26"/>
    <p:sldId id="386" r:id="rId27"/>
    <p:sldId id="387" r:id="rId28"/>
    <p:sldId id="379" r:id="rId29"/>
    <p:sldId id="363" r:id="rId30"/>
    <p:sldId id="364" r:id="rId31"/>
    <p:sldId id="380" r:id="rId32"/>
    <p:sldId id="383" r:id="rId33"/>
    <p:sldId id="388" r:id="rId34"/>
    <p:sldId id="381" r:id="rId35"/>
    <p:sldId id="382" r:id="rId36"/>
    <p:sldId id="389" r:id="rId37"/>
    <p:sldId id="390" r:id="rId38"/>
    <p:sldId id="391" r:id="rId39"/>
    <p:sldId id="392" r:id="rId40"/>
    <p:sldId id="295" r:id="rId41"/>
    <p:sldId id="352" r:id="rId42"/>
    <p:sldId id="353" r:id="rId43"/>
    <p:sldId id="393" r:id="rId44"/>
    <p:sldId id="281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60" d="100"/>
          <a:sy n="60" d="100"/>
        </p:scale>
        <p:origin x="576" y="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2224F5-9B88-4555-BB09-5D33A6AA5881}" type="datetimeFigureOut">
              <a:rPr lang="en-CA" smtClean="0"/>
              <a:t>2026-04-08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108987-083D-4559-913B-0AABAD4A4B4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75658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BAB49-A5B2-6384-E3DF-547F4B224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B33F74-9E95-3FF6-D454-C8FE8B02C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4A9C78-3715-9929-CCA0-CC917FE0A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A795B-34AA-88EC-21E0-9B502A3D2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2019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C1B27-2AC3-687F-17B8-760C59F1F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133A79-D1B1-1F5C-EEF5-578504509A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A4A97B-D8F8-4C45-E58C-57115F947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15220-2AE2-A6FC-8F7F-808067A00F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35740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C5F39-B702-5E3F-4599-66728A78D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EDF982-2DC4-967A-9312-D6BED68F19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817537-430E-8421-E689-3B8A9D451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BC4A2-AA81-6941-9E84-50899CB54C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592966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B8AA7-95E9-3549-30F3-2B533AA02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BB8752-C939-E0A6-D433-09EC253517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E5380-5FAF-1495-42D4-FB958EF0A2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C8A2B-F13F-2168-981D-62E0E4A036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06650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1F8B4-C819-6EB0-F2CD-C9EBF364A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964FD0-F6C0-FEA2-4C37-1D9EB0F1B7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BBB1CB-F598-1519-2EB9-EAC15159A9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CECBDE-8462-E6F0-EC57-3A870021B8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33614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D1B62-3F49-4272-CF02-C1A3F1130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341A5A-EDED-1DCD-2543-9B6A53991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6C3407-2F0F-BB76-D1C2-68596B1214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DABC7-ADCB-A3AF-AC42-782565662A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446512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A4C01-C84C-9427-B684-2E837D486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9925F4-851D-1E92-3AE0-0CC265989F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6C2922-EE37-3755-0762-3D6AAAEEA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ACD58-4EA1-A06B-85CC-C9B4D93CC6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8724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92392-AEFD-4E28-A329-FFEECB4AB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1BB3AF-471A-EFB8-1120-A5F8DCE4E4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D9B0F1-9256-CFEC-DC61-0147674668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455D39-D7A5-E77C-77F9-EE0C53F22C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870551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DBFEF-CE1A-4142-EE82-972287C4B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6FA184-F894-363B-1868-04968855E6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D4382C-4498-9D20-41DD-C3A2CC1780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91CAB9-1072-03AF-4073-CFECB56FDE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440641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A4E1C-3455-E146-20DB-CDE3C3076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5F6ED4-AEFC-B433-1C31-7D6215611A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76A989-4D90-6BF5-3F07-C67C127792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C4C499-6FCF-A66B-10A6-BF29650917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33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64346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D9853-3BD9-7D4C-7B28-3D48F8113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0171C9-820F-88FE-952B-FB47483E9E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162D08-DA19-F9F1-53E0-41D15713CE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9939D4-70A3-63D9-81F1-A37E9A0B60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36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343614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8B9B7-AA58-4CCF-7FBD-2FAEE5CE1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D391BD-E210-773F-DA51-92AB6912AD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644E31-2BBF-CA80-62DE-B11A84511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8057C-6C08-54ED-4358-46C9C404CE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40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63218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CE9E6-57DA-2668-431C-EFC765AB2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DA08C7-BB24-5D8F-086D-147BA04CF9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22D454-320C-1E57-AB52-F45A683258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BC5129-35AB-D540-72DC-7675784484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41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221074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44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0361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AFE92-119D-4C95-B3F6-AE69F2007B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3D57FE-61D9-402E-8BB9-584FCB8008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5E9F8-AD0D-7257-C62D-69C7F0A34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6E7C4-FF68-4568-978D-9E81DF0817F3}" type="datetimeFigureOut">
              <a:rPr lang="en-CA" smtClean="0"/>
              <a:t>2026-04-08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6701F-7DC4-7457-16B8-DE2D1BBE3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86444-05AD-2CCE-1F62-7898CF768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0D78F-D333-43D3-9C8F-006FA2C5BC6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91290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BA61F-D849-9E3F-A761-173F65FED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7B265-9D0A-4452-E659-A004E8A08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E20D9-BD2D-EFFE-15DF-E0D723674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6E7C4-FF68-4568-978D-9E81DF0817F3}" type="datetimeFigureOut">
              <a:rPr lang="en-CA" smtClean="0"/>
              <a:t>2026-04-08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0C2D2-68F3-65AA-01C4-DC2007381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324B7-7E41-CF92-62AC-E68E8C37F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0D78F-D333-43D3-9C8F-006FA2C5BC6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28014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5CC41-CCC6-5CF7-801C-49100A858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9B8EA5-4A2A-ED3D-170F-2DD3A103AD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6C9EC-A677-0605-2091-97423D7A3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6E7C4-FF68-4568-978D-9E81DF0817F3}" type="datetimeFigureOut">
              <a:rPr lang="en-CA" smtClean="0"/>
              <a:t>2026-04-08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BA7C25-27A5-510C-2A6E-454F32B77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3A739-432A-D1F3-9EDD-6D6370DA6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0D78F-D333-43D3-9C8F-006FA2C5BC6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78368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A59DB-8BDA-7294-9A25-C0E75A7D0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0B5F8-4107-11C2-284B-0A7AAEF71E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3943AF-49E4-9B8C-8269-AE69667D42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1510B6-615E-E361-BA6D-07757FA2D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6E7C4-FF68-4568-978D-9E81DF0817F3}" type="datetimeFigureOut">
              <a:rPr lang="en-CA" smtClean="0"/>
              <a:t>2026-04-08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2D4B5-2E27-D026-225E-774B49247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75BBBA-9E77-C291-4A1F-A485C526C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0D78F-D333-43D3-9C8F-006FA2C5BC6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2138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F1331-3ACC-6B80-8187-31A5310B2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ED7082-13F2-B251-4D2E-3302DBE9F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3AEA4C-499D-DBBC-323A-2459BD4D90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D6EA88-6CB9-0B75-8AEE-19DC7EBCD8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46D487-D2CA-CE41-8431-E028885E9D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4882D0-FA94-629C-3370-8F193545B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6E7C4-FF68-4568-978D-9E81DF0817F3}" type="datetimeFigureOut">
              <a:rPr lang="en-CA" smtClean="0"/>
              <a:t>2026-04-08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9D3C49-D28B-99C6-2295-54E54675D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660856-2527-9782-29A4-11F3114A7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0D78F-D333-43D3-9C8F-006FA2C5BC6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0434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8D5A0-608D-17AE-A4A9-DE0DC9E2E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0D2014-49F4-325A-35DA-C6443CEBE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6E7C4-FF68-4568-978D-9E81DF0817F3}" type="datetimeFigureOut">
              <a:rPr lang="en-CA" smtClean="0"/>
              <a:t>2026-04-08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111424-85C9-0053-CFA4-56C662962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98D24D-55C5-055C-D6D1-95A34DA0C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0D78F-D333-43D3-9C8F-006FA2C5BC6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24855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7F2EC7-0DB3-A116-6E3E-F53838EF4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6E7C4-FF68-4568-978D-9E81DF0817F3}" type="datetimeFigureOut">
              <a:rPr lang="en-CA" smtClean="0"/>
              <a:t>2026-04-08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509377-502D-A55B-FC25-0B72B4D5B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8BD8BA-A6C9-214C-B329-771EFDB78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0D78F-D333-43D3-9C8F-006FA2C5BC6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1532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8DA4A-A725-C97D-3E5E-434073CC1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7EB7A-8E0E-9CFE-C657-656C077D4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F311F3-5273-D9FA-1B56-3C56B09F15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CE1852-4DBF-0B6F-7BF0-0F29A0BA9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6E7C4-FF68-4568-978D-9E81DF0817F3}" type="datetimeFigureOut">
              <a:rPr lang="en-CA" smtClean="0"/>
              <a:t>2026-04-08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51323E-E0B9-A9D6-836C-4524EBAEA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D200B6-E1EF-037D-A797-A624EEA0E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0D78F-D333-43D3-9C8F-006FA2C5BC6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6791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B94C0-F794-7A87-7EBA-56FD52C3D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37B614-097B-E4F5-3A5D-26188725E6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784CF8-12F9-5E26-5594-1DC92E51D1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7D33C-0B2E-4E8A-91B5-62CE0D7AA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6E7C4-FF68-4568-978D-9E81DF0817F3}" type="datetimeFigureOut">
              <a:rPr lang="en-CA" smtClean="0"/>
              <a:t>2026-04-08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4AE5CC-0E90-592D-1B97-80BB2D504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778E1B-8E7D-D8CA-E0A5-BEB07C71B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0D78F-D333-43D3-9C8F-006FA2C5BC6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71799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F6F89-4B00-30AA-89E8-C6CC24978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686F1A-128F-83B7-F145-E6611B1FF0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D59D7-E0BE-E746-A322-12ECBAC28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6E7C4-FF68-4568-978D-9E81DF0817F3}" type="datetimeFigureOut">
              <a:rPr lang="en-CA" smtClean="0"/>
              <a:t>2026-04-08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0BDF62-F1CE-B114-F7AA-3A3A124D3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4577F-0E50-5310-7E7B-F147773EF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0D78F-D333-43D3-9C8F-006FA2C5BC6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04614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0CE57D-C5B2-57C0-1348-5BA714514A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592E26-5789-9801-80C4-3DD31C3B9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87710-B79B-D418-10CB-2C231A419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6E7C4-FF68-4568-978D-9E81DF0817F3}" type="datetimeFigureOut">
              <a:rPr lang="en-CA" smtClean="0"/>
              <a:t>2026-04-08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01D99C-E443-83FB-DDA1-C7ACD82CE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A0121-DEBE-0575-69E5-D85328412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0D78F-D333-43D3-9C8F-006FA2C5BC6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09732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195A68-C51C-3071-3552-CFB60D3B7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5ED31-E5D3-43F2-4660-568F6FEF3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F03398-E603-9859-4F89-533B2A8016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56E7C4-FF68-4568-978D-9E81DF0817F3}" type="datetimeFigureOut">
              <a:rPr lang="en-CA" smtClean="0"/>
              <a:t>2026-04-08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F7DED-3BB1-8BAF-BDC8-3388E1FDEE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ECB88-9536-4629-4573-5DC3F432FD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90D78F-D333-43D3-9C8F-006FA2C5BC6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30261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A5073-7EFE-E3C8-C952-F6BA44D7A9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3CCB77-AD57-CF93-5335-73ADA896EA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94217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A870D04-5049-481F-17B3-6CAD790966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23: Shared Client State</a:t>
            </a:r>
            <a:endParaRPr lang="en-CA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F4E24CC-8A14-F368-174F-4475EFB97F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39625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1445B-2B4F-5954-E61B-77DD40F77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65CDC-2775-AA01-C4E4-CBD66BB41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this lesson, students will: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Explain the difference between local and shared state</a:t>
            </a:r>
          </a:p>
          <a:p>
            <a:r>
              <a:rPr lang="en-US" dirty="0"/>
              <a:t>Identify when state needs to be shared across components</a:t>
            </a:r>
          </a:p>
          <a:p>
            <a:r>
              <a:rPr lang="en-US" dirty="0"/>
              <a:t>Understand how the Context API works</a:t>
            </a:r>
          </a:p>
          <a:p>
            <a:r>
              <a:rPr lang="en-US" dirty="0"/>
              <a:t>Use a provider to share state</a:t>
            </a:r>
          </a:p>
          <a:p>
            <a:r>
              <a:rPr lang="en-US" dirty="0"/>
              <a:t>Consume shared state in multiple components</a:t>
            </a:r>
          </a:p>
        </p:txBody>
      </p:sp>
    </p:spTree>
    <p:extLst>
      <p:ext uri="{BB962C8B-B14F-4D97-AF65-F5344CB8AC3E}">
        <p14:creationId xmlns:p14="http://schemas.microsoft.com/office/powerpoint/2010/main" val="1973787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6C05A-AE25-1768-8A9B-9E1C61225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481B4-3432-EE69-114F-1E97A4260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Local state review</a:t>
            </a:r>
          </a:p>
          <a:p>
            <a:r>
              <a:rPr lang="en-US" dirty="0"/>
              <a:t>The problem of prop drilling</a:t>
            </a:r>
          </a:p>
          <a:p>
            <a:r>
              <a:rPr lang="en-US" dirty="0"/>
              <a:t>What is Context?</a:t>
            </a:r>
          </a:p>
          <a:p>
            <a:r>
              <a:rPr lang="en-US" dirty="0"/>
              <a:t>Creating and providing context</a:t>
            </a:r>
          </a:p>
          <a:p>
            <a:r>
              <a:rPr lang="en-US" dirty="0"/>
              <a:t>Consuming context</a:t>
            </a:r>
          </a:p>
          <a:p>
            <a:r>
              <a:rPr lang="en-US" dirty="0"/>
              <a:t>When to use Context</a:t>
            </a:r>
          </a:p>
          <a:p>
            <a:r>
              <a:rPr lang="en-US" dirty="0"/>
              <a:t>When not to use Context</a:t>
            </a:r>
          </a:p>
        </p:txBody>
      </p:sp>
    </p:spTree>
    <p:extLst>
      <p:ext uri="{BB962C8B-B14F-4D97-AF65-F5344CB8AC3E}">
        <p14:creationId xmlns:p14="http://schemas.microsoft.com/office/powerpoint/2010/main" val="1231324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AEED0-DDE6-8C55-40FD-B519647BD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1B982-B120-50FB-49C1-AD22E1B10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Connecting</a:t>
            </a:r>
          </a:p>
        </p:txBody>
      </p:sp>
    </p:spTree>
    <p:extLst>
      <p:ext uri="{BB962C8B-B14F-4D97-AF65-F5344CB8AC3E}">
        <p14:creationId xmlns:p14="http://schemas.microsoft.com/office/powerpoint/2010/main" val="1260317111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C1F16-3474-C259-3A81-449262C38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D7A18-9B1C-5D39-C1F3-CA18B29F3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Where should state live?</a:t>
            </a:r>
            <a:endParaRPr lang="en-CA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A2C2F-55AB-166E-85E7-C1815433E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From previous lessons: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rendering can happen on the client or server</a:t>
            </a:r>
          </a:p>
          <a:p>
            <a:r>
              <a:rPr lang="en-US" dirty="0"/>
              <a:t>data can come from different sources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Now the question becomes: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/>
              <a:t>Where should application state live?</a:t>
            </a:r>
            <a:endParaRPr lang="en-CA" i="1" dirty="0"/>
          </a:p>
        </p:txBody>
      </p:sp>
    </p:spTree>
    <p:extLst>
      <p:ext uri="{BB962C8B-B14F-4D97-AF65-F5344CB8AC3E}">
        <p14:creationId xmlns:p14="http://schemas.microsoft.com/office/powerpoint/2010/main" val="2392794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D6A62-3096-7ED3-BDC9-4D99E862D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E158D-8B33-384D-036A-A2E8BEE67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6D78C-59A2-8039-9E4E-B772C6A45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Local component state</a:t>
            </a:r>
          </a:p>
          <a:p>
            <a:r>
              <a:rPr lang="en-US" dirty="0"/>
              <a:t>Shared client state</a:t>
            </a:r>
          </a:p>
          <a:p>
            <a:r>
              <a:rPr lang="en-US" dirty="0"/>
              <a:t>Server state (coming next lesson)</a:t>
            </a:r>
          </a:p>
        </p:txBody>
      </p:sp>
    </p:spTree>
    <p:extLst>
      <p:ext uri="{BB962C8B-B14F-4D97-AF65-F5344CB8AC3E}">
        <p14:creationId xmlns:p14="http://schemas.microsoft.com/office/powerpoint/2010/main" val="487249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A52A6-B6C0-A97B-A6FC-A05487E60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2162D-6F79-9F91-305A-598E214D9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Local State</a:t>
            </a:r>
          </a:p>
        </p:txBody>
      </p:sp>
    </p:spTree>
    <p:extLst>
      <p:ext uri="{BB962C8B-B14F-4D97-AF65-F5344CB8AC3E}">
        <p14:creationId xmlns:p14="http://schemas.microsoft.com/office/powerpoint/2010/main" val="1731326145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F8BAC-9251-5B78-45AF-DD712BD8A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983AA-516C-D39A-6F4A-ED29CF3C1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C294F-96C3-29CC-38F3-15E8CF23C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42593"/>
            <a:ext cx="10515600" cy="23699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const [count,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setCount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]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useState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(0);</a:t>
            </a:r>
          </a:p>
        </p:txBody>
      </p:sp>
    </p:spTree>
    <p:extLst>
      <p:ext uri="{BB962C8B-B14F-4D97-AF65-F5344CB8AC3E}">
        <p14:creationId xmlns:p14="http://schemas.microsoft.com/office/powerpoint/2010/main" val="1578059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21949-70E6-524C-C90E-FD61F5759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local state works well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8D638-C70C-9E14-E05B-EC549CBAB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Used by a single component</a:t>
            </a:r>
          </a:p>
          <a:p>
            <a:r>
              <a:rPr lang="en-US" dirty="0"/>
              <a:t>Not needed elsewhere</a:t>
            </a:r>
          </a:p>
          <a:p>
            <a:r>
              <a:rPr lang="en-US" dirty="0"/>
              <a:t>Simple and isolated</a:t>
            </a:r>
          </a:p>
        </p:txBody>
      </p:sp>
    </p:spTree>
    <p:extLst>
      <p:ext uri="{BB962C8B-B14F-4D97-AF65-F5344CB8AC3E}">
        <p14:creationId xmlns:p14="http://schemas.microsoft.com/office/powerpoint/2010/main" val="4045460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D70BC-5FAD-9DED-1C64-E6E20035D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C827E-5CA3-4B10-6A81-CE7A0690B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Limitation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1F65CF2-00AE-1763-1EFC-8FC89DE11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53710"/>
            <a:ext cx="10515600" cy="2758816"/>
          </a:xfrm>
        </p:spPr>
        <p:txBody>
          <a:bodyPr/>
          <a:lstStyle/>
          <a:p>
            <a:r>
              <a:rPr lang="en-US" dirty="0"/>
              <a:t>What if multiple components need the same state?</a:t>
            </a:r>
          </a:p>
        </p:txBody>
      </p:sp>
    </p:spTree>
    <p:extLst>
      <p:ext uri="{BB962C8B-B14F-4D97-AF65-F5344CB8AC3E}">
        <p14:creationId xmlns:p14="http://schemas.microsoft.com/office/powerpoint/2010/main" val="923760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D1674-0C00-994F-3851-3DD0F7D40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D86F6-244E-2771-CFCA-127394EA4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Prop Drilling</a:t>
            </a:r>
          </a:p>
        </p:txBody>
      </p:sp>
    </p:spTree>
    <p:extLst>
      <p:ext uri="{BB962C8B-B14F-4D97-AF65-F5344CB8AC3E}">
        <p14:creationId xmlns:p14="http://schemas.microsoft.com/office/powerpoint/2010/main" val="2511367113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8F398-DAD9-BE32-3C3B-27731F4AE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9D3E6-9E60-C188-A728-8C6077E40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24D6C-F782-C384-5EB9-2BCB4E2E8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0843"/>
            <a:ext cx="10515600" cy="32897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Passing state through components that don’t use it: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App -&gt; Layout -&gt; Sidebar -&gt; Button</a:t>
            </a:r>
          </a:p>
        </p:txBody>
      </p:sp>
    </p:spTree>
    <p:extLst>
      <p:ext uri="{BB962C8B-B14F-4D97-AF65-F5344CB8AC3E}">
        <p14:creationId xmlns:p14="http://schemas.microsoft.com/office/powerpoint/2010/main" val="2023088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9163E-1081-E88F-87A2-ECA51F69E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52FCD-7BB1-8A45-DB4F-53ABB1549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48910"/>
            <a:ext cx="10515600" cy="3063616"/>
          </a:xfrm>
        </p:spPr>
        <p:txBody>
          <a:bodyPr>
            <a:normAutofit/>
          </a:bodyPr>
          <a:lstStyle/>
          <a:p>
            <a:r>
              <a:rPr lang="en-US" dirty="0"/>
              <a:t>Hard to maintain</a:t>
            </a:r>
          </a:p>
          <a:p>
            <a:r>
              <a:rPr lang="en-US" dirty="0"/>
              <a:t>Tight coupling between components</a:t>
            </a:r>
          </a:p>
          <a:p>
            <a:r>
              <a:rPr lang="en-US" dirty="0"/>
              <a:t>Scales poorly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9114CF-D445-E382-C653-68207AC37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Issues</a:t>
            </a:r>
          </a:p>
        </p:txBody>
      </p:sp>
    </p:spTree>
    <p:extLst>
      <p:ext uri="{BB962C8B-B14F-4D97-AF65-F5344CB8AC3E}">
        <p14:creationId xmlns:p14="http://schemas.microsoft.com/office/powerpoint/2010/main" val="4261240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F1E31-F02A-24EC-1A0B-AEAE6DBEF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078D6-9306-1845-24B0-8A5960706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6966"/>
            <a:ext cx="10515600" cy="351556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After the first load: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navigation is handled by the client</a:t>
            </a:r>
          </a:p>
          <a:p>
            <a:r>
              <a:rPr lang="en-US" dirty="0"/>
              <a:t>no full page reload</a:t>
            </a:r>
          </a:p>
          <a:p>
            <a:r>
              <a:rPr lang="en-US" dirty="0"/>
              <a:t>only data may be fetched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creates a smoother user experience.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DCA288-564C-F0D9-84EF-E5B7F0E33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Navigation in CSR</a:t>
            </a:r>
          </a:p>
        </p:txBody>
      </p:sp>
    </p:spTree>
    <p:extLst>
      <p:ext uri="{BB962C8B-B14F-4D97-AF65-F5344CB8AC3E}">
        <p14:creationId xmlns:p14="http://schemas.microsoft.com/office/powerpoint/2010/main" val="41141448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E8DDC-5CAF-8C2E-AC71-BD16391A4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FF2E8-4E54-ED2C-0752-EE01D1D68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Introducing Context</a:t>
            </a:r>
          </a:p>
        </p:txBody>
      </p:sp>
    </p:spTree>
    <p:extLst>
      <p:ext uri="{BB962C8B-B14F-4D97-AF65-F5344CB8AC3E}">
        <p14:creationId xmlns:p14="http://schemas.microsoft.com/office/powerpoint/2010/main" val="1484660151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B458B-4D7A-BF7A-9F6A-4BF8EA3EE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E8248-79D7-26D0-D9BD-A347423B2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48910"/>
            <a:ext cx="10515600" cy="30636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Context allows us to: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share state across the component tree</a:t>
            </a:r>
          </a:p>
          <a:p>
            <a:r>
              <a:rPr lang="en-US" dirty="0"/>
              <a:t>avoid passing props through every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5387F6-C140-F0C8-01D1-0C1C40F98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What is Context?</a:t>
            </a:r>
          </a:p>
        </p:txBody>
      </p:sp>
    </p:spTree>
    <p:extLst>
      <p:ext uri="{BB962C8B-B14F-4D97-AF65-F5344CB8AC3E}">
        <p14:creationId xmlns:p14="http://schemas.microsoft.com/office/powerpoint/2010/main" val="10457135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D9768-B8BB-1AEA-D538-D18DEA286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FE643-E95A-8E85-A833-3F24CA2C5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48910"/>
            <a:ext cx="10515600" cy="30636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Context provides shared client state to any component that needs it.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BC415C-6716-B5DF-F21D-5C67E3C38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Key idea</a:t>
            </a:r>
          </a:p>
        </p:txBody>
      </p:sp>
    </p:spTree>
    <p:extLst>
      <p:ext uri="{BB962C8B-B14F-4D97-AF65-F5344CB8AC3E}">
        <p14:creationId xmlns:p14="http://schemas.microsoft.com/office/powerpoint/2010/main" val="36395276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C8F39-EA39-A20A-1C13-0DB48068A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17161-F20A-0E94-86B0-9AAEB5F0D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Creating Context</a:t>
            </a:r>
          </a:p>
        </p:txBody>
      </p:sp>
    </p:spTree>
    <p:extLst>
      <p:ext uri="{BB962C8B-B14F-4D97-AF65-F5344CB8AC3E}">
        <p14:creationId xmlns:p14="http://schemas.microsoft.com/office/powerpoint/2010/main" val="1233260699"/>
      </p:ext>
    </p:extLst>
  </p:cSld>
  <p:clrMapOvr>
    <a:masterClrMapping/>
  </p:clrMapOvr>
  <p:transition spd="med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17176-BA29-A6B4-FA31-120A15379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9B92B-BD69-A233-2C55-51F5EB3A7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0842"/>
            <a:ext cx="10515600" cy="33473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import {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createContext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} from 'react';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export const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ThemeContext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createContext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6BA7F-6715-A130-8CE0-7CF89CC96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Step 1: Create a context</a:t>
            </a:r>
          </a:p>
        </p:txBody>
      </p:sp>
    </p:spTree>
    <p:extLst>
      <p:ext uri="{BB962C8B-B14F-4D97-AF65-F5344CB8AC3E}">
        <p14:creationId xmlns:p14="http://schemas.microsoft.com/office/powerpoint/2010/main" val="24233628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F38F2-85E5-2E11-0EB0-1C9AB4397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DAD85-4D77-A12E-A004-B0EE9A4A2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2: Create a provider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3C553-75D8-7927-58DA-97335849D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function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ThemeProvider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({ children })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const [theme,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setTheme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]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useState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('light');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function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toggleTheme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setTheme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prev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=&gt;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prev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=== 'light' ? 'dark' : 'light');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return (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&lt;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ThemeContext.Provider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value={{ theme,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toggleTheme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}}&gt;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{children}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&lt;/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ThemeContext.Provider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706068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FD6A8-33C1-0FE1-B3FB-80DC26B95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DD589-C011-D4D5-0E43-C77918B68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Providing Context</a:t>
            </a:r>
          </a:p>
        </p:txBody>
      </p:sp>
    </p:spTree>
    <p:extLst>
      <p:ext uri="{BB962C8B-B14F-4D97-AF65-F5344CB8AC3E}">
        <p14:creationId xmlns:p14="http://schemas.microsoft.com/office/powerpoint/2010/main" val="2530571506"/>
      </p:ext>
    </p:extLst>
  </p:cSld>
  <p:clrMapOvr>
    <a:masterClrMapping/>
  </p:clrMapOvr>
  <p:transition spd="med">
    <p:pull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EC1F1-084A-F978-AD19-FC8928A6B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43AC8-9404-3E45-2BB8-524319B1A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33903"/>
            <a:ext cx="10515600" cy="35786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ThemeProvider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&lt;App /&gt;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ThemeProvider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0C6EAF-1DC9-D8B5-DF9A-45643B5CA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Wrap the application</a:t>
            </a:r>
          </a:p>
        </p:txBody>
      </p:sp>
    </p:spTree>
    <p:extLst>
      <p:ext uri="{BB962C8B-B14F-4D97-AF65-F5344CB8AC3E}">
        <p14:creationId xmlns:p14="http://schemas.microsoft.com/office/powerpoint/2010/main" val="7656389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F4DF5-C5B7-AC2B-CFAC-275099BED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CA10B-6FFF-220E-56FC-BDB9B4349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8A028-59EF-1FDB-C602-31C4B53BD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01159"/>
            <a:ext cx="10515600" cy="2811367"/>
          </a:xfrm>
        </p:spPr>
        <p:txBody>
          <a:bodyPr>
            <a:normAutofit/>
          </a:bodyPr>
          <a:lstStyle/>
          <a:p>
            <a:r>
              <a:rPr lang="en-US" dirty="0"/>
              <a:t>All components inside can access the shared state.</a:t>
            </a:r>
          </a:p>
        </p:txBody>
      </p:sp>
    </p:spTree>
    <p:extLst>
      <p:ext uri="{BB962C8B-B14F-4D97-AF65-F5344CB8AC3E}">
        <p14:creationId xmlns:p14="http://schemas.microsoft.com/office/powerpoint/2010/main" val="12098296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49BB5-66C3-BD9B-A70C-B3B0E3966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85B8E-CFB5-5DB8-9F62-98193E27C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Consuming Context</a:t>
            </a:r>
          </a:p>
        </p:txBody>
      </p:sp>
    </p:spTree>
    <p:extLst>
      <p:ext uri="{BB962C8B-B14F-4D97-AF65-F5344CB8AC3E}">
        <p14:creationId xmlns:p14="http://schemas.microsoft.com/office/powerpoint/2010/main" val="3204336034"/>
      </p:ext>
    </p:extLst>
  </p:cSld>
  <p:clrMapOvr>
    <a:masterClrMapping/>
  </p:clrMapOvr>
  <p:transition spd="med">
    <p:pull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C3F09-9F47-B532-ED3D-9B97E889A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4C474-142C-BE2E-7648-6CE7D7678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useContext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54EE6-6A91-62DA-C31C-991E665AF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90041"/>
            <a:ext cx="10515600" cy="24224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const { theme,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toggleTheme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} =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useContext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ThemeContext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3024671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E6AC7-34C7-391E-DA78-E8EA51614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A3DC8-1C6A-DAF3-893D-045A9B9FC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A30DD-2499-4961-106A-AF0B0B50BC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&lt;button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onClick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={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toggleTheme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}&gt;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Current theme: {theme}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&lt;/button&gt;</a:t>
            </a:r>
          </a:p>
        </p:txBody>
      </p:sp>
    </p:spTree>
    <p:extLst>
      <p:ext uri="{BB962C8B-B14F-4D97-AF65-F5344CB8AC3E}">
        <p14:creationId xmlns:p14="http://schemas.microsoft.com/office/powerpoint/2010/main" val="13465759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E1217-4E7C-751A-B572-15ABCBC6C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8F91F-8A0A-7D30-FC7B-71F88FBB9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Shared State in Action</a:t>
            </a:r>
          </a:p>
        </p:txBody>
      </p:sp>
    </p:spTree>
    <p:extLst>
      <p:ext uri="{BB962C8B-B14F-4D97-AF65-F5344CB8AC3E}">
        <p14:creationId xmlns:p14="http://schemas.microsoft.com/office/powerpoint/2010/main" val="2080014208"/>
      </p:ext>
    </p:extLst>
  </p:cSld>
  <p:clrMapOvr>
    <a:masterClrMapping/>
  </p:clrMapOvr>
  <p:transition spd="med">
    <p:pull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28D07-9C0A-212F-E672-573F73B89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2DE04-E2AD-DE52-5B46-79560BBFF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</a:t>
            </a:r>
            <a:r>
              <a:rPr lang="en-US" dirty="0" err="1"/>
              <a:t>behaviour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028C9-9414-0BD3-EE40-D4B26590A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Multiple components use the same state</a:t>
            </a:r>
          </a:p>
          <a:p>
            <a:r>
              <a:rPr lang="en-US" dirty="0"/>
              <a:t>Updating in one place updates everywhere</a:t>
            </a:r>
          </a:p>
        </p:txBody>
      </p:sp>
    </p:spTree>
    <p:extLst>
      <p:ext uri="{BB962C8B-B14F-4D97-AF65-F5344CB8AC3E}">
        <p14:creationId xmlns:p14="http://schemas.microsoft.com/office/powerpoint/2010/main" val="7623277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E0CB6-4F87-BC2A-3FD5-BCB3A3A2D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0A497-7A31-45E8-D451-B5B7004B4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locations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8FB31-2570-DDEF-B755-77F8CC7DD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Header</a:t>
            </a:r>
          </a:p>
          <a:p>
            <a:r>
              <a:rPr lang="en-US" dirty="0"/>
              <a:t>Sidebar</a:t>
            </a:r>
          </a:p>
          <a:p>
            <a:r>
              <a:rPr lang="en-US" dirty="0"/>
              <a:t>Page content</a:t>
            </a:r>
          </a:p>
        </p:txBody>
      </p:sp>
    </p:spTree>
    <p:extLst>
      <p:ext uri="{BB962C8B-B14F-4D97-AF65-F5344CB8AC3E}">
        <p14:creationId xmlns:p14="http://schemas.microsoft.com/office/powerpoint/2010/main" val="25175419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6FE78-0D47-0F11-CA5F-9128D9E13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E6F70-1974-3E03-5BE6-0694AA7DE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When to Use Context</a:t>
            </a:r>
          </a:p>
        </p:txBody>
      </p:sp>
    </p:spTree>
    <p:extLst>
      <p:ext uri="{BB962C8B-B14F-4D97-AF65-F5344CB8AC3E}">
        <p14:creationId xmlns:p14="http://schemas.microsoft.com/office/powerpoint/2010/main" val="1292335371"/>
      </p:ext>
    </p:extLst>
  </p:cSld>
  <p:clrMapOvr>
    <a:masterClrMapping/>
  </p:clrMapOvr>
  <p:transition spd="med">
    <p:pull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4FA57-10D5-A117-3A1B-B373D87DA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FBDEC-071A-F79E-5076-DA7D7D94E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 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0A478-3982-31CF-B727-5AA691D88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Theme / UI preferences</a:t>
            </a:r>
          </a:p>
          <a:p>
            <a:r>
              <a:rPr lang="en-US" dirty="0"/>
              <a:t>Authenticated user</a:t>
            </a:r>
          </a:p>
          <a:p>
            <a:r>
              <a:rPr lang="en-US" dirty="0"/>
              <a:t>Shared UI state</a:t>
            </a:r>
          </a:p>
        </p:txBody>
      </p:sp>
    </p:spTree>
    <p:extLst>
      <p:ext uri="{BB962C8B-B14F-4D97-AF65-F5344CB8AC3E}">
        <p14:creationId xmlns:p14="http://schemas.microsoft.com/office/powerpoint/2010/main" val="24943338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E270A-A60E-D117-A0EF-893370D0D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D06E8-EA58-AEC5-E763-F5597CD19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When NOT to Use Context</a:t>
            </a:r>
          </a:p>
        </p:txBody>
      </p:sp>
    </p:spTree>
    <p:extLst>
      <p:ext uri="{BB962C8B-B14F-4D97-AF65-F5344CB8AC3E}">
        <p14:creationId xmlns:p14="http://schemas.microsoft.com/office/powerpoint/2010/main" val="3677666637"/>
      </p:ext>
    </p:extLst>
  </p:cSld>
  <p:clrMapOvr>
    <a:masterClrMapping/>
  </p:clrMapOvr>
  <p:transition spd="med">
    <p:pull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2058A-0ACC-C4BF-5B4E-47CEC1DA2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A17BD-F614-DA73-0EEE-836E0DDE4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Avoid Context for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EFDAD-F940-4BE6-EB55-66BB93E40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Frequently changing data</a:t>
            </a:r>
          </a:p>
          <a:p>
            <a:r>
              <a:rPr lang="en-US" dirty="0"/>
              <a:t>Complex state logic</a:t>
            </a:r>
          </a:p>
          <a:p>
            <a:r>
              <a:rPr lang="en-US" dirty="0"/>
              <a:t>Server-fetched data</a:t>
            </a:r>
          </a:p>
        </p:txBody>
      </p:sp>
    </p:spTree>
    <p:extLst>
      <p:ext uri="{BB962C8B-B14F-4D97-AF65-F5344CB8AC3E}">
        <p14:creationId xmlns:p14="http://schemas.microsoft.com/office/powerpoint/2010/main" val="20887076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9EDF6-FF86-A375-E215-678189805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3DEEF-B8EE-2B67-4DC5-51BFFD175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DB45E-0E9B-BAD9-6BC0-EB436701B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Context does not handle: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caching</a:t>
            </a:r>
          </a:p>
          <a:p>
            <a:r>
              <a:rPr lang="en-US" dirty="0"/>
              <a:t>async state</a:t>
            </a:r>
          </a:p>
          <a:p>
            <a:r>
              <a:rPr lang="en-US" dirty="0"/>
              <a:t>background updates</a:t>
            </a:r>
          </a:p>
        </p:txBody>
      </p:sp>
    </p:spTree>
    <p:extLst>
      <p:ext uri="{BB962C8B-B14F-4D97-AF65-F5344CB8AC3E}">
        <p14:creationId xmlns:p14="http://schemas.microsoft.com/office/powerpoint/2010/main" val="4939792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B8E84-4426-9D60-4F6B-81F517244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27A58-02FE-FCC5-8A33-AB624C46C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Client vs Server State</a:t>
            </a:r>
          </a:p>
        </p:txBody>
      </p:sp>
    </p:spTree>
    <p:extLst>
      <p:ext uri="{BB962C8B-B14F-4D97-AF65-F5344CB8AC3E}">
        <p14:creationId xmlns:p14="http://schemas.microsoft.com/office/powerpoint/2010/main" val="3922730079"/>
      </p:ext>
    </p:extLst>
  </p:cSld>
  <p:clrMapOvr>
    <a:masterClrMapping/>
  </p:clrMapOvr>
  <p:transition spd="med">
    <p:pull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5E7F3-878D-E9E1-CD7C-EF3CBD487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15FC4-D74D-EFF4-4E76-427C39874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8AA36-CB0A-0AD0-9576-DF97E436B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UI-related</a:t>
            </a:r>
          </a:p>
          <a:p>
            <a:r>
              <a:rPr lang="en-US" dirty="0"/>
              <a:t>local or shared</a:t>
            </a:r>
          </a:p>
        </p:txBody>
      </p:sp>
    </p:spTree>
    <p:extLst>
      <p:ext uri="{BB962C8B-B14F-4D97-AF65-F5344CB8AC3E}">
        <p14:creationId xmlns:p14="http://schemas.microsoft.com/office/powerpoint/2010/main" val="2253641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ED99D-2DB1-F0DB-E7FD-CC7250183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7E4C4-BA64-A9C7-2ACA-31E56E50A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Server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9FCAC-08C9-C2B7-4503-D6195B986D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comes from APIs</a:t>
            </a:r>
          </a:p>
          <a:p>
            <a:r>
              <a:rPr lang="en-US" dirty="0"/>
              <a:t>changes over time</a:t>
            </a:r>
          </a:p>
          <a:p>
            <a:r>
              <a:rPr lang="en-US" dirty="0"/>
              <a:t>needs synchronization</a:t>
            </a:r>
          </a:p>
        </p:txBody>
      </p:sp>
    </p:spTree>
    <p:extLst>
      <p:ext uri="{BB962C8B-B14F-4D97-AF65-F5344CB8AC3E}">
        <p14:creationId xmlns:p14="http://schemas.microsoft.com/office/powerpoint/2010/main" val="1783263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9DF20-0959-E95A-DF6E-109828D4F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531FC-39AD-04EC-F2C4-CADAB6302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1F9EE-7689-48F7-1EB7-9A8B44ED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11366"/>
            <a:ext cx="10515600" cy="2601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Different types of state require different tools.</a:t>
            </a:r>
          </a:p>
        </p:txBody>
      </p:sp>
    </p:spTree>
    <p:extLst>
      <p:ext uri="{BB962C8B-B14F-4D97-AF65-F5344CB8AC3E}">
        <p14:creationId xmlns:p14="http://schemas.microsoft.com/office/powerpoint/2010/main" val="24081608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9E497-0B96-A988-B0F7-8671A8753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D4F01-BCF7-C81D-4DF6-ED373D112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Hands-on Practice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A23C2-1004-2B1E-AEF1-B53F9E21E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/>
              <a:t>Exercise: Update the existing walkthrough project to use context for client side state management.</a:t>
            </a:r>
          </a:p>
          <a:p>
            <a:pPr marL="0" indent="0">
              <a:buNone/>
            </a:pPr>
            <a:r>
              <a:rPr lang="en-CA" b="1" dirty="0"/>
              <a:t>Objective: </a:t>
            </a:r>
            <a:r>
              <a:rPr lang="en-CA" dirty="0"/>
              <a:t>Implement client-side state management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Obtain the exercise starter files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Create the necessary context and provider files.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Configure the provider for the app.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Utilize the context in components, </a:t>
            </a:r>
            <a:r>
              <a:rPr lang="en-CA"/>
              <a:t>where necessary.</a:t>
            </a:r>
            <a:endParaRPr lang="en-CA" dirty="0"/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Ask questions if you are unsure of what to do or how the code works.</a:t>
            </a:r>
          </a:p>
          <a:p>
            <a:pPr marL="971527" lvl="1" indent="-514350">
              <a:buFont typeface="+mj-lt"/>
              <a:buAutoNum type="arabicPeriod"/>
            </a:pP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8885256"/>
      </p:ext>
    </p:extLst>
  </p:cSld>
  <p:clrMapOvr>
    <a:masterClrMapping/>
  </p:clrMapOvr>
  <p:transition spd="med">
    <p:pull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1D267-295B-8BC6-526B-F7AF72936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88993-A1E9-DD98-6466-3FA55B3B8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Quick Poll</a:t>
            </a:r>
          </a:p>
        </p:txBody>
      </p:sp>
    </p:spTree>
    <p:extLst>
      <p:ext uri="{BB962C8B-B14F-4D97-AF65-F5344CB8AC3E}">
        <p14:creationId xmlns:p14="http://schemas.microsoft.com/office/powerpoint/2010/main" val="412320587"/>
      </p:ext>
    </p:extLst>
  </p:cSld>
  <p:clrMapOvr>
    <a:masterClrMapping/>
  </p:clrMapOvr>
  <p:transition spd="med">
    <p:pull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9F378-947C-7BA3-AFE0-EFB3BB840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65DB5-5309-A725-8C04-D7ACAF334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should you use Context?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51A40-7173-1A79-5623-9E424F676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dirty="0"/>
              <a:t>For API data fetching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For shared UI state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For caching server data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For all application state</a:t>
            </a:r>
          </a:p>
        </p:txBody>
      </p:sp>
    </p:spTree>
    <p:extLst>
      <p:ext uri="{BB962C8B-B14F-4D97-AF65-F5344CB8AC3E}">
        <p14:creationId xmlns:p14="http://schemas.microsoft.com/office/powerpoint/2010/main" val="8219635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7F87A-EC3B-6F87-073F-5EA32E945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FA4A7-5289-6F66-D4CE-FCD9F7DE8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this lesson, we covered the following:</a:t>
            </a:r>
          </a:p>
          <a:p>
            <a:endParaRPr lang="en-US" dirty="0"/>
          </a:p>
          <a:p>
            <a:pPr marL="971527" lvl="1" indent="-514350">
              <a:buFont typeface="+mj-lt"/>
              <a:buAutoNum type="arabicPeriod"/>
            </a:pPr>
            <a:r>
              <a:rPr lang="en-US" dirty="0"/>
              <a:t>Explain the difference between local and shared state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US" dirty="0"/>
              <a:t>Identify when state needs to be shared across components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US" dirty="0"/>
              <a:t>Understand how the Context API works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US" dirty="0"/>
              <a:t>Use a provider to share state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US" dirty="0"/>
              <a:t>Consume shared state in multiple components</a:t>
            </a:r>
          </a:p>
          <a:p>
            <a:pPr marL="971527" lvl="1" indent="-514350">
              <a:buFont typeface="+mj-lt"/>
              <a:buAutoNum type="arabicPeriod"/>
            </a:pPr>
            <a:endParaRPr lang="en-US" dirty="0"/>
          </a:p>
          <a:p>
            <a:r>
              <a:rPr lang="en-US" dirty="0"/>
              <a:t>Complete the lesson 23 checklist</a:t>
            </a:r>
          </a:p>
        </p:txBody>
      </p:sp>
    </p:spTree>
    <p:extLst>
      <p:ext uri="{BB962C8B-B14F-4D97-AF65-F5344CB8AC3E}">
        <p14:creationId xmlns:p14="http://schemas.microsoft.com/office/powerpoint/2010/main" val="34157582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C17D3-7614-08E1-2AAC-01DF58360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3BE39-AE9E-C416-EC64-744B7883B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Explain: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Context is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When to use Context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One limitation of Context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How Context differs from local state</a:t>
            </a:r>
          </a:p>
        </p:txBody>
      </p:sp>
    </p:spTree>
    <p:extLst>
      <p:ext uri="{BB962C8B-B14F-4D97-AF65-F5344CB8AC3E}">
        <p14:creationId xmlns:p14="http://schemas.microsoft.com/office/powerpoint/2010/main" val="1481093830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694</Words>
  <Application>Microsoft Office PowerPoint</Application>
  <PresentationFormat>Widescreen</PresentationFormat>
  <Paragraphs>178</Paragraphs>
  <Slides>44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9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Lesson Objectives</vt:lpstr>
      <vt:lpstr>Agenda</vt:lpstr>
      <vt:lpstr>Connecting</vt:lpstr>
      <vt:lpstr>Where should state live?</vt:lpstr>
      <vt:lpstr>Types of state</vt:lpstr>
      <vt:lpstr>Local State</vt:lpstr>
      <vt:lpstr>Example</vt:lpstr>
      <vt:lpstr>When local state works well</vt:lpstr>
      <vt:lpstr>Limitation</vt:lpstr>
      <vt:lpstr>Prop Drilling</vt:lpstr>
      <vt:lpstr>The problem</vt:lpstr>
      <vt:lpstr>Issues</vt:lpstr>
      <vt:lpstr>Navigation in CSR</vt:lpstr>
      <vt:lpstr>Introducing Context</vt:lpstr>
      <vt:lpstr>What is Context?</vt:lpstr>
      <vt:lpstr>Key idea</vt:lpstr>
      <vt:lpstr>Creating Context</vt:lpstr>
      <vt:lpstr>Step 1: Create a context</vt:lpstr>
      <vt:lpstr>Step 2: Create a provider</vt:lpstr>
      <vt:lpstr>Providing Context</vt:lpstr>
      <vt:lpstr>Wrap the application</vt:lpstr>
      <vt:lpstr>Result</vt:lpstr>
      <vt:lpstr>Consuming Context</vt:lpstr>
      <vt:lpstr>Using useContext</vt:lpstr>
      <vt:lpstr>Example</vt:lpstr>
      <vt:lpstr>Shared State in Action</vt:lpstr>
      <vt:lpstr>Key behaviour</vt:lpstr>
      <vt:lpstr>Example locations</vt:lpstr>
      <vt:lpstr>When to Use Context</vt:lpstr>
      <vt:lpstr>Good use cases</vt:lpstr>
      <vt:lpstr>When NOT to Use Context</vt:lpstr>
      <vt:lpstr>Avoid Context for</vt:lpstr>
      <vt:lpstr>Why?</vt:lpstr>
      <vt:lpstr>Client vs Server State</vt:lpstr>
      <vt:lpstr>Client state</vt:lpstr>
      <vt:lpstr>Server state</vt:lpstr>
      <vt:lpstr>Key idea</vt:lpstr>
      <vt:lpstr>Hands-on Practice</vt:lpstr>
      <vt:lpstr>Quick Poll</vt:lpstr>
      <vt:lpstr>When should you use Context?</vt:lpstr>
      <vt:lpstr>Lesson Summary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Baljeet Kaur</dc:creator>
  <cp:lastModifiedBy>Baljeet Kaur</cp:lastModifiedBy>
  <cp:revision>1</cp:revision>
  <dcterms:created xsi:type="dcterms:W3CDTF">2026-04-08T17:54:51Z</dcterms:created>
  <dcterms:modified xsi:type="dcterms:W3CDTF">2026-04-08T17:56:00Z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2026-04-08T17:56:00Z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495bb1cf-2f1b-4dfc-a598-87c566977dc6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10, 3, 0, 1</vt:lpwstr>
  </property>
</Properties>
</file>